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B2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175504" y="777240"/>
            <a:ext cx="1828800" cy="1828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0152" cy="11887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Tajawal"/>
                <a:cs typeface="Tajawal"/>
              </a:rPr>
              <a:t>نظام الانتخابات الإلكتروني</a:t>
            </a:r>
          </a:p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E7C855"/>
                </a:solidFill>
                <a:latin typeface="Tajawal"/>
                <a:cs typeface="Tajawal"/>
              </a:rPr>
              <a:t>جمعية الإرشاد والإصلاح — انتخابات مستشارين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60152" cy="7315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Tajawal"/>
                <a:cs typeface="Tajawal"/>
              </a:rPr>
              <a:t>دليل مبسّط للمستخدمين: الناخب • المرشح • المرشد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3ED1F6-7CE4-4D83-8742-CBA98D27A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749808"/>
            <a:ext cx="1974804" cy="191567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ajawal"/>
                <a:cs typeface="Tajawal"/>
              </a:rPr>
              <a:t>ما هو هذا الموقع؟</a:t>
            </a:r>
          </a:p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7C855"/>
                </a:solidFill>
                <a:latin typeface="Tajawal"/>
                <a:cs typeface="Tajawal"/>
              </a:rPr>
              <a:t>نظرة عامة سريعة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222A3A"/>
                </a:solidFill>
                <a:latin typeface="Tajawal"/>
                <a:cs typeface="Tajawal"/>
              </a:rPr>
              <a:t>موقع إلكتروني آمن يتيح لأعضاء جمعية الإرشاد والإصلاح المشاركة في</a:t>
            </a:r>
          </a:p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222A3A"/>
                </a:solidFill>
                <a:latin typeface="Tajawal"/>
                <a:cs typeface="Tajawal"/>
              </a:rPr>
              <a:t>الانتخابات عن بُعد: الاطّلاع على اللوائح والمرشّحين، ثم التصويت بسهولة وأمان.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35204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35204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315468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4225C"/>
                </a:solidFill>
                <a:latin typeface="Tajawal"/>
                <a:cs typeface="Tajawal"/>
              </a:rPr>
              <a:t>⚡  بسيط وسريع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3063240" cy="2468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الدخول برقم المقترع فقط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واجهة عربية واضحة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خطوات تصويت قليلة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يعمل على الهاتف والكمبيوتر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743200"/>
            <a:ext cx="35204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4256" y="2743200"/>
            <a:ext cx="3520440" cy="73152"/>
          </a:xfrm>
          <a:prstGeom prst="rect">
            <a:avLst/>
          </a:prstGeom>
          <a:solidFill>
            <a:srgbClr val="1B2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2907792"/>
            <a:ext cx="315468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4225C"/>
                </a:solidFill>
                <a:latin typeface="Tajawal"/>
                <a:cs typeface="Tajawal"/>
              </a:rPr>
              <a:t>🔒  آمن وموثوق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3520440"/>
            <a:ext cx="3063240" cy="2468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تشفير كامل للبيانات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كل ناخب يصوّت مرة واحدة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تأكيد قبل اعتماد الصوت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خصوصية الصوت محفوظة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743200"/>
            <a:ext cx="35204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2743200"/>
            <a:ext cx="35204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2907792"/>
            <a:ext cx="315468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4225C"/>
                </a:solidFill>
                <a:latin typeface="Tajawal"/>
                <a:cs typeface="Tajawal"/>
              </a:rPr>
              <a:t>📋  منظّم وشفّاف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3520440"/>
            <a:ext cx="3063240" cy="2468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لوائح ومرشّحون واضحون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متابعة حالة التصويت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نتائج تُعلن في وقتها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بطاقة تعريفية لكل مرشّح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ajawal"/>
                <a:cs typeface="Tajawal"/>
              </a:rPr>
              <a:t>من يستخدم الموقع؟</a:t>
            </a:r>
          </a:p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7C855"/>
                </a:solidFill>
                <a:latin typeface="Tajawal"/>
                <a:cs typeface="Tajawal"/>
              </a:rPr>
              <a:t>ثلاثة أدوار رئيسية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2044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47088" y="1920240"/>
            <a:ext cx="914400" cy="914400"/>
          </a:xfrm>
          <a:prstGeom prst="ellipse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47088" y="1920240"/>
            <a:ext cx="914400" cy="9144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  <a:latin typeface="Tajawal"/>
                <a:cs typeface="Tajawal"/>
              </a:rPr>
              <a:t>🗳️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35204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14225C"/>
                </a:solidFill>
                <a:latin typeface="Tajawal"/>
                <a:cs typeface="Tajawal"/>
              </a:rPr>
              <a:t>الناخب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2971800" cy="21031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22A3A"/>
                </a:solidFill>
                <a:latin typeface="Tajawal"/>
                <a:cs typeface="Tajawal"/>
              </a:rPr>
              <a:t>العضو صاحب حق التصويت. يدخل برقمه، يختار مرشّحيه من اللوائح، ثم يؤكّد صوته.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5" y="1554480"/>
            <a:ext cx="352044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34255" y="1554480"/>
            <a:ext cx="3520440" cy="91440"/>
          </a:xfrm>
          <a:prstGeom prst="rect">
            <a:avLst/>
          </a:prstGeom>
          <a:solidFill>
            <a:srgbClr val="1B2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32703" y="1920240"/>
            <a:ext cx="914400" cy="914400"/>
          </a:xfrm>
          <a:prstGeom prst="ellipse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32703" y="1920240"/>
            <a:ext cx="914400" cy="9144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  <a:latin typeface="Tajawal"/>
                <a:cs typeface="Tajawal"/>
              </a:rP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971800"/>
            <a:ext cx="35204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14225C"/>
                </a:solidFill>
                <a:latin typeface="Tajawal"/>
                <a:cs typeface="Tajawal"/>
              </a:rPr>
              <a:t>المرشّح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5" y="3703320"/>
            <a:ext cx="2971800" cy="21031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22A3A"/>
                </a:solidFill>
                <a:latin typeface="Tajawal"/>
                <a:cs typeface="Tajawal"/>
              </a:rPr>
              <a:t>الشخص الذي يترشّح للانتخابات. يملأ بطاقته التعريفية بمعلوماته وصورته.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0" y="1554480"/>
            <a:ext cx="352044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19870" y="1554480"/>
            <a:ext cx="352044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18318" y="1920240"/>
            <a:ext cx="914400" cy="914400"/>
          </a:xfrm>
          <a:prstGeom prst="ellipse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18" y="1920240"/>
            <a:ext cx="914400" cy="9144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  <a:latin typeface="Tajawal"/>
                <a:cs typeface="Tajawal"/>
              </a:rPr>
              <a:t>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0" y="2971800"/>
            <a:ext cx="35204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14225C"/>
                </a:solidFill>
                <a:latin typeface="Tajawal"/>
                <a:cs typeface="Tajawal"/>
              </a:rPr>
              <a:t>المرشد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0" y="3703320"/>
            <a:ext cx="2971800" cy="21031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22A3A"/>
                </a:solidFill>
                <a:latin typeface="Tajawal"/>
                <a:cs typeface="Tajawal"/>
              </a:rPr>
              <a:t>مسؤول المجموعة. يتابع أفراد مجموعته: من سجّل الدخول ومن صوّت.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ajawal"/>
                <a:cs typeface="Tajawal"/>
              </a:rPr>
              <a:t>1) تسجيل الدخول</a:t>
            </a:r>
          </a:p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7C855"/>
                </a:solidFill>
                <a:latin typeface="Tajawal"/>
                <a:cs typeface="Tajawal"/>
              </a:rPr>
              <a:t>صفحة الدخول المشتركة لجميع المستخدمين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330952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330952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19072"/>
            <a:ext cx="4965192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4225C"/>
                </a:solidFill>
                <a:latin typeface="Tajawal"/>
                <a:cs typeface="Tajawal"/>
              </a:rPr>
              <a:t>🔑  خطوات الدخول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331720"/>
            <a:ext cx="4873752" cy="205056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• 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افتح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رابط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الموقع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الرسمي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• 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اكتب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«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رقم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المقترع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»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الخاص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بك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في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الحقل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• 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اضغط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زر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«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دخول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إلى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صندوق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الاقتراع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».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• 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يتعرّف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النظام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تلقائياً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على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نوع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حسابك</a:t>
            </a:r>
            <a:endParaRPr sz="1450" b="0" dirty="0">
              <a:solidFill>
                <a:srgbClr val="222A3A"/>
              </a:solidFill>
              <a:latin typeface="Tajawal"/>
              <a:cs typeface="Tajawal"/>
            </a:endParaRP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•     (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ناخب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/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مرشّح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/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مرشد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).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• 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كل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العملية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محميّة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lang="ar-LB" sz="1450" b="0" dirty="0">
                <a:solidFill>
                  <a:srgbClr val="222A3A"/>
                </a:solidFill>
                <a:latin typeface="Tajawal"/>
                <a:cs typeface="Tajawal"/>
              </a:rPr>
              <a:t>لا يسمح بدحول اكثر من </a:t>
            </a:r>
            <a:r>
              <a:rPr lang="ar-LB" sz="1450" b="0" dirty="0" err="1">
                <a:solidFill>
                  <a:srgbClr val="222A3A"/>
                </a:solidFill>
                <a:latin typeface="Tajawal"/>
                <a:cs typeface="Tajawal"/>
              </a:rPr>
              <a:t>شحص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737360"/>
            <a:ext cx="4206240" cy="1554480"/>
          </a:xfrm>
          <a:prstGeom prst="roundRect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20624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Tajawal"/>
                <a:cs typeface="Tajawal"/>
              </a:rPr>
              <a:t>Elections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420624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E7C855"/>
                </a:solidFill>
                <a:latin typeface="Tajawal"/>
                <a:cs typeface="Tajawal"/>
              </a:rPr>
              <a:t>أدخل رقم المقترع للمتابعة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291840"/>
            <a:ext cx="42062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3520440"/>
            <a:ext cx="3657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4225C"/>
                </a:solidFill>
                <a:latin typeface="Tajawal"/>
                <a:cs typeface="Tajawal"/>
              </a:rPr>
              <a:t>🪪  رقم المقترع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3931920"/>
            <a:ext cx="3657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3931920"/>
            <a:ext cx="3657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B6373"/>
                </a:solidFill>
                <a:latin typeface="Tajawal"/>
                <a:cs typeface="Tajawal"/>
              </a:rPr>
              <a:t>أدخل رقمك هنا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4617720"/>
            <a:ext cx="3657600" cy="50292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4617720"/>
            <a:ext cx="3657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4225C"/>
                </a:solidFill>
                <a:latin typeface="Tajawal"/>
                <a:cs typeface="Tajawal"/>
              </a:rPr>
              <a:t>دخول إلى صندوق الاقتراع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ajawal"/>
                <a:cs typeface="Tajawal"/>
              </a:rPr>
              <a:t>2) الناخب: الصفحة الرئيسية</a:t>
            </a:r>
          </a:p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7C855"/>
                </a:solidFill>
                <a:latin typeface="Tajawal"/>
                <a:cs typeface="Tajawal"/>
              </a:rPr>
              <a:t>اللوائح والمرشّحون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22A3A"/>
                </a:solidFill>
                <a:latin typeface="Tajawal"/>
                <a:cs typeface="Tajawal"/>
              </a:rPr>
              <a:t>بعد الدخول يرى الناخب اسم الانتخابات والجولة، وزر «تصويت»، إضافة إلى: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03120"/>
            <a:ext cx="5330952" cy="3931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09360" y="2103120"/>
            <a:ext cx="5330952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267712"/>
            <a:ext cx="4965192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4225C"/>
                </a:solidFill>
                <a:latin typeface="Tajawal"/>
                <a:cs typeface="Tajawal"/>
              </a:rPr>
              <a:t>🏠  ماذا يظهر في الصفحة؟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880360"/>
            <a:ext cx="4873752" cy="3017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اسم العملية: «انتخابات مستشارين 2026».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جدول اللوائح (مثل: الإناث / الذكور) ويبيّن: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   عدد المرشّحين • العدد المطلوب «للفوز» • «المختارين».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قائمة المرشّحين مع خانة بحث بالاسم.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لكل مرشّح: الاسم، الجنس، وبطاقة تعريفية.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زر «تصويت» للانتقال إلى الاختيار.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502920"/>
          </a:xfrm>
          <a:prstGeom prst="roundRect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50292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ajawal"/>
                <a:cs typeface="Tajawal"/>
              </a:rPr>
              <a:t>اللوائح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13487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4225C"/>
                </a:solidFill>
                <a:latin typeface="Tajawal"/>
                <a:cs typeface="Tajawal"/>
              </a:rPr>
              <a:t>اللائحة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7380" y="2743200"/>
            <a:ext cx="13487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4225C"/>
                </a:solidFill>
                <a:latin typeface="Tajawal"/>
                <a:cs typeface="Tajawal"/>
              </a:rPr>
              <a:t>المرشحين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743200"/>
            <a:ext cx="13487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4225C"/>
                </a:solidFill>
                <a:latin typeface="Tajawal"/>
                <a:cs typeface="Tajawal"/>
              </a:rPr>
              <a:t>للفوز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860" y="2743200"/>
            <a:ext cx="13487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4225C"/>
                </a:solidFill>
                <a:latin typeface="Tajawal"/>
                <a:cs typeface="Tajawal"/>
              </a:rPr>
              <a:t>المختارين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54680"/>
            <a:ext cx="5394960" cy="457200"/>
          </a:xfrm>
          <a:prstGeom prst="rect">
            <a:avLst/>
          </a:prstGeom>
          <a:solidFill>
            <a:srgbClr val="BF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154680"/>
            <a:ext cx="134874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22A3A"/>
                </a:solidFill>
                <a:latin typeface="Tajawal"/>
                <a:cs typeface="Tajawal"/>
              </a:rPr>
              <a:t>الإناث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7380" y="3154680"/>
            <a:ext cx="134874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222A3A"/>
                </a:solidFill>
                <a:latin typeface="Tajawal"/>
                <a:cs typeface="Tajawal"/>
              </a:rPr>
              <a:t>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154680"/>
            <a:ext cx="134874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222A3A"/>
                </a:solidFill>
                <a:latin typeface="Tajawal"/>
                <a:cs typeface="Tajaw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4860" y="3154680"/>
            <a:ext cx="134874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222A3A"/>
                </a:solidFill>
                <a:latin typeface="Tajawal"/>
                <a:cs typeface="Tajawal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11880"/>
            <a:ext cx="53949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611880"/>
            <a:ext cx="134874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22A3A"/>
                </a:solidFill>
                <a:latin typeface="Tajawal"/>
                <a:cs typeface="Tajawal"/>
              </a:rPr>
              <a:t>الذكور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7380" y="3611880"/>
            <a:ext cx="134874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222A3A"/>
                </a:solidFill>
                <a:latin typeface="Tajawal"/>
                <a:cs typeface="Tajawal"/>
              </a:rPr>
              <a:t>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611880"/>
            <a:ext cx="134874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222A3A"/>
                </a:solidFill>
                <a:latin typeface="Tajawal"/>
                <a:cs typeface="Tajaw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4860" y="3611880"/>
            <a:ext cx="134874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222A3A"/>
                </a:solidFill>
                <a:latin typeface="Tajawal"/>
                <a:cs typeface="Tajawal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06240"/>
            <a:ext cx="53949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5B6373"/>
                </a:solidFill>
                <a:latin typeface="Tajawal"/>
                <a:cs typeface="Tajawal"/>
              </a:rPr>
              <a:t>«للفوز» = عدد المقاعد المسموح اختيارها في كل لائحة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ajawal"/>
                <a:cs typeface="Tajawal"/>
              </a:rPr>
              <a:t>3) الناخب: اختيار المرشّحين</a:t>
            </a:r>
          </a:p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7C855"/>
                </a:solidFill>
                <a:latin typeface="Tajawal"/>
                <a:cs typeface="Tajawal"/>
              </a:rPr>
              <a:t>كيف تصوّت؟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212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0" y="170078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0" y="1700784"/>
            <a:ext cx="5029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4225C"/>
                </a:solidFill>
                <a:latin typeface="Tajawal"/>
                <a:cs typeface="Tajawal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29768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اضغط زر «تصويت» للبدء.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441448"/>
            <a:ext cx="5212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0" y="2587752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0" y="2587752"/>
            <a:ext cx="5029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4225C"/>
                </a:solidFill>
                <a:latin typeface="Tajawal"/>
                <a:cs typeface="Tajawal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41448"/>
            <a:ext cx="429768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اختر المرشّحين الذين تريدهم من كل لائحة (بالنقر على أسمائهم).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328416"/>
            <a:ext cx="5212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0" y="3474720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0" y="3474720"/>
            <a:ext cx="5029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4225C"/>
                </a:solidFill>
                <a:latin typeface="Tajawal"/>
                <a:cs typeface="Tajawal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28416"/>
            <a:ext cx="429768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لكل لائحة حدّ أقصى = العدد المطلوب «للفوز».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215384"/>
            <a:ext cx="5212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972800" y="4361688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0" y="4361688"/>
            <a:ext cx="5029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4225C"/>
                </a:solidFill>
                <a:latin typeface="Tajawal"/>
                <a:cs typeface="Tajawal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215384"/>
            <a:ext cx="429768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إذا تجاوزت العدد تظهر رسالة: «عدد المرشّحين في هذه اللائحة تخطّى المطلوب».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102352"/>
            <a:ext cx="5212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972800" y="5248656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0" y="5248656"/>
            <a:ext cx="5029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4225C"/>
                </a:solidFill>
                <a:latin typeface="Tajawal"/>
                <a:cs typeface="Tajawal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102352"/>
            <a:ext cx="429768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يمكنك اختيار عدد أقل، أو عدم الاختيار من لائحة ما.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377440"/>
            <a:ext cx="5394960" cy="1280160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E0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2377440"/>
            <a:ext cx="5029200" cy="12801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Tajawal"/>
                <a:cs typeface="Tajawal"/>
              </a:rPr>
              <a:t>⚠️  تنبيه</a:t>
            </a:r>
          </a:p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C0392B"/>
                </a:solidFill>
                <a:latin typeface="Tajawal"/>
                <a:cs typeface="Tajawal"/>
              </a:rPr>
              <a:t>«عدد المرشّحين في هذه اللائحة تخطّى المطلوب»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23360"/>
            <a:ext cx="5394960" cy="1463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2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يظهر هذا التنبيه عند محاولة اختيار عدد مرشّحين أكبر من</a:t>
            </a:r>
          </a:p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المسموح. ببساطة: ألغِ اختيار أحدهم لتتمكن من المتابعة.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ajawal"/>
                <a:cs typeface="Tajawal"/>
              </a:rPr>
              <a:t>4) الناخب: تأكيد التصويت</a:t>
            </a:r>
          </a:p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7C855"/>
                </a:solidFill>
                <a:latin typeface="Tajawal"/>
                <a:cs typeface="Tajawal"/>
              </a:rPr>
              <a:t>خطوة مراجعة قبل الاعتماد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330952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330952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19072"/>
            <a:ext cx="4965192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4225C"/>
                </a:solidFill>
                <a:latin typeface="Tajawal"/>
                <a:cs typeface="Tajawal"/>
              </a:rPr>
              <a:t>✅  نافذة التنبيه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331720"/>
            <a:ext cx="4873752" cy="1280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إن تركت لائحة دون اختيار، يسألك النظام للتأكيد.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الرسالة: «لم يتم اختيار أي مرشّح من بعض اللوائح».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خياران: «متابعة التصويت» أو «عودة للاختيار».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886200"/>
            <a:ext cx="5330952" cy="2148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3886200"/>
            <a:ext cx="5330952" cy="73152"/>
          </a:xfrm>
          <a:prstGeom prst="rect">
            <a:avLst/>
          </a:prstGeom>
          <a:solidFill>
            <a:srgbClr val="1B2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4050792"/>
            <a:ext cx="4965192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4225C"/>
                </a:solidFill>
                <a:latin typeface="Tajawal"/>
                <a:cs typeface="Tajawal"/>
              </a:rPr>
              <a:t>📝  شاشة الموافقة النهائية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663440"/>
            <a:ext cx="4873752" cy="12344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يعرض النظام جدولاً بأسماء المرشّحين الذين اخترتهم.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راجع القائمة جيداً قبل الاعتماد.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اضغط «تصويت» للاعتماد، أو «عودة» للتعديل.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9191" y="3780174"/>
            <a:ext cx="5394960" cy="548640"/>
          </a:xfrm>
          <a:prstGeom prst="roundRect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2071" y="3770441"/>
            <a:ext cx="50292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ajawal"/>
                <a:cs typeface="Tajawal"/>
              </a:rPr>
              <a:t>✔  الموافقة على التصويت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8368" y="4355078"/>
            <a:ext cx="5394960" cy="411480"/>
          </a:xfrm>
          <a:prstGeom prst="rect">
            <a:avLst/>
          </a:prstGeom>
          <a:solidFill>
            <a:srgbClr val="E7C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9191" y="4364801"/>
            <a:ext cx="26974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4225C"/>
                </a:solidFill>
                <a:latin typeface="Tajawal"/>
                <a:cs typeface="Tajawal"/>
              </a:rPr>
              <a:t>اسم المرشّح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6671" y="4364801"/>
            <a:ext cx="26974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4225C"/>
                </a:solidFill>
                <a:latin typeface="Tajawal"/>
                <a:cs typeface="Tajawal"/>
              </a:rPr>
              <a:t>اللائحة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8368" y="4766558"/>
            <a:ext cx="53949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9191" y="4776281"/>
            <a:ext cx="26974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222A3A"/>
                </a:solidFill>
                <a:latin typeface="Tajawal"/>
                <a:cs typeface="Tajawal"/>
              </a:rPr>
              <a:t>هيفاء باقي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6671" y="4776281"/>
            <a:ext cx="26974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222A3A"/>
                </a:solidFill>
                <a:latin typeface="Tajawal"/>
                <a:cs typeface="Tajawal"/>
              </a:rPr>
              <a:t>الإناث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8368" y="5178038"/>
            <a:ext cx="53949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9191" y="5187761"/>
            <a:ext cx="26974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222A3A"/>
                </a:solidFill>
                <a:latin typeface="Tajawal"/>
                <a:cs typeface="Tajawal"/>
              </a:rPr>
              <a:t>حسنة بشاشة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26671" y="5187761"/>
            <a:ext cx="26974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222A3A"/>
                </a:solidFill>
                <a:latin typeface="Tajawal"/>
                <a:cs typeface="Tajawal"/>
              </a:rPr>
              <a:t>الإناث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8368" y="5589518"/>
            <a:ext cx="53949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9191" y="5599241"/>
            <a:ext cx="26974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222A3A"/>
                </a:solidFill>
                <a:latin typeface="Tajawal"/>
                <a:cs typeface="Tajawal"/>
              </a:rPr>
              <a:t>ريما شكر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26671" y="5599241"/>
            <a:ext cx="26974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222A3A"/>
                </a:solidFill>
                <a:latin typeface="Tajawal"/>
                <a:cs typeface="Tajawal"/>
              </a:rPr>
              <a:t>الإناث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1248" y="6183878"/>
            <a:ext cx="1463040" cy="45720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2071" y="6193601"/>
            <a:ext cx="146304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4225C"/>
                </a:solidFill>
                <a:latin typeface="Tajawal"/>
                <a:cs typeface="Tajawal"/>
              </a:rPr>
              <a:t>تصويت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87168" y="618387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57991" y="6193601"/>
            <a:ext cx="146304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4225C"/>
                </a:solidFill>
                <a:latin typeface="Tajawal"/>
                <a:cs typeface="Tajawal"/>
              </a:rPr>
              <a:t>عودة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DA78055-BBFB-438C-8A70-13D13F1EE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25" y="1197864"/>
            <a:ext cx="4348263" cy="25071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ajawal"/>
                <a:cs typeface="Tajawal"/>
              </a:rPr>
              <a:t>5) الناخب: تم تسجيل الصوت</a:t>
            </a:r>
          </a:p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7C855"/>
                </a:solidFill>
                <a:latin typeface="Tajawal"/>
                <a:cs typeface="Tajawal"/>
              </a:rPr>
              <a:t>نهاية رحلة الناخب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2011680"/>
            <a:ext cx="77724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94560" y="2011680"/>
            <a:ext cx="7772400" cy="109728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32704" y="2331720"/>
            <a:ext cx="914400" cy="914400"/>
          </a:xfrm>
          <a:prstGeom prst="ellipse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32704" y="2331720"/>
            <a:ext cx="914400" cy="9144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Tajawal"/>
                <a:cs typeface="Tajaw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337560"/>
            <a:ext cx="7406640" cy="9144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4225C"/>
                </a:solidFill>
                <a:latin typeface="Tajawal"/>
                <a:cs typeface="Tajawal"/>
              </a:rPr>
              <a:t>لقد تم تسجيل صوتك بنجاح</a:t>
            </a:r>
          </a:p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5B6373"/>
                </a:solidFill>
                <a:latin typeface="Tajawal"/>
                <a:cs typeface="Tajawal"/>
              </a:rPr>
              <a:t>الرجاء الانتظار ريثما تنتهي عملية الاقتراع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754880"/>
            <a:ext cx="7772400" cy="1463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22A3A"/>
                </a:solidFill>
                <a:latin typeface="Tajawal"/>
                <a:cs typeface="Tajawal"/>
              </a:rPr>
              <a:t>• بعد الاعتماد لا يمكن تغيير الصوت — كل ناخب يصوّت مرة واحدة.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22A3A"/>
                </a:solidFill>
                <a:latin typeface="Tajawal"/>
                <a:cs typeface="Tajawal"/>
              </a:rPr>
              <a:t>• تتحدّث خانة «المختارين» في اللوائح لتعكس اختيارك.</a:t>
            </a:r>
          </a:p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22A3A"/>
                </a:solidFill>
                <a:latin typeface="Tajawal"/>
                <a:cs typeface="Tajawal"/>
              </a:rPr>
              <a:t>• تظهر النتائج عند انتهاء الاقتراع (زر «لم تصدر النتائج بعد»).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ajawal"/>
                <a:cs typeface="Tajawal"/>
              </a:rPr>
              <a:t>المرشّح: البطاقة التعريفية</a:t>
            </a:r>
          </a:p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7C855"/>
                </a:solidFill>
                <a:latin typeface="Tajawal"/>
                <a:cs typeface="Tajawal"/>
              </a:rPr>
              <a:t>هويّة المرشّح أمام الناخبين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330952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330952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19072"/>
            <a:ext cx="4965192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4225C"/>
                </a:solidFill>
                <a:latin typeface="Tajawal"/>
                <a:cs typeface="Tajawal"/>
              </a:rPr>
              <a:t>🪪  ما هي البطاقة التعريفية؟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331720"/>
            <a:ext cx="4873752" cy="3566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صفحة تعرّف بالمرشّح لمساعدة الناخب على الاختيار.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يصل إليها الناخب بالضغط على أيقونة 🪪 بجانب الاسم.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تتضمّن معلومات المرشّح وصورته الشخصية.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إن لم تُرفع صورة تظهر عبارة (NO LOGO).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هدفها: تعريف واضح وشفّاف بكل مرشّح.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52120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645920"/>
            <a:ext cx="5212080" cy="502920"/>
          </a:xfrm>
          <a:prstGeom prst="rect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645920"/>
            <a:ext cx="48463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ajawal"/>
                <a:cs typeface="Tajawal"/>
              </a:rPr>
              <a:t>🪪  بطاقة تعريفية للمرشّح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331720"/>
            <a:ext cx="4754880" cy="292608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331720"/>
            <a:ext cx="45720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222A3A"/>
                </a:solidFill>
                <a:latin typeface="Tajawal"/>
                <a:cs typeface="Tajawal"/>
              </a:rPr>
              <a:t>الاسم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660904"/>
            <a:ext cx="47548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660904"/>
            <a:ext cx="45720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222A3A"/>
                </a:solidFill>
                <a:latin typeface="Tajawal"/>
                <a:cs typeface="Tajawal"/>
              </a:rPr>
              <a:t>تاريخ الميلاد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990088"/>
            <a:ext cx="4754880" cy="292608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2990088"/>
            <a:ext cx="45720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222A3A"/>
                </a:solidFill>
                <a:latin typeface="Tajawal"/>
                <a:cs typeface="Tajawal"/>
              </a:rPr>
              <a:t>الجنسية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319272"/>
            <a:ext cx="47548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319272"/>
            <a:ext cx="45720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222A3A"/>
                </a:solidFill>
                <a:latin typeface="Tajawal"/>
                <a:cs typeface="Tajawal"/>
              </a:rPr>
              <a:t>الفئة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648456"/>
            <a:ext cx="4754880" cy="292608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648456"/>
            <a:ext cx="45720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222A3A"/>
                </a:solidFill>
                <a:latin typeface="Tajawal"/>
                <a:cs typeface="Tajawal"/>
              </a:rPr>
              <a:t>الوضع الاجتماعي / عدد الأولاد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977640"/>
            <a:ext cx="47548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3977640"/>
            <a:ext cx="45720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222A3A"/>
                </a:solidFill>
                <a:latin typeface="Tajawal"/>
                <a:cs typeface="Tajawal"/>
              </a:rPr>
              <a:t>السكن الحالي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306824"/>
            <a:ext cx="4754880" cy="292608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4306824"/>
            <a:ext cx="45720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222A3A"/>
                </a:solidFill>
                <a:latin typeface="Tajawal"/>
                <a:cs typeface="Tajawal"/>
              </a:rPr>
              <a:t>التعليم / العمل الحالي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636008"/>
            <a:ext cx="47548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4636008"/>
            <a:ext cx="45720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222A3A"/>
                </a:solidFill>
                <a:latin typeface="Tajawal"/>
                <a:cs typeface="Tajawal"/>
              </a:rPr>
              <a:t>تاريخ الانتساب للجمعية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4965192"/>
            <a:ext cx="4754880" cy="292608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4965192"/>
            <a:ext cx="45720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222A3A"/>
                </a:solidFill>
                <a:latin typeface="Tajawal"/>
                <a:cs typeface="Tajawal"/>
              </a:rPr>
              <a:t>طبيعة العمل في الجمعية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5294376"/>
            <a:ext cx="47548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5294376"/>
            <a:ext cx="45720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222A3A"/>
                </a:solidFill>
                <a:latin typeface="Tajawal"/>
                <a:cs typeface="Tajawal"/>
              </a:rPr>
              <a:t>كلمة من المرشّح عن الجمعية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ajawal"/>
                <a:cs typeface="Tajawal"/>
              </a:rPr>
              <a:t>المرشّح: تعبئة وتعديل البطاقة</a:t>
            </a:r>
          </a:p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7C855"/>
                </a:solidFill>
                <a:latin typeface="Tajawal"/>
                <a:cs typeface="Tajawal"/>
              </a:rPr>
              <a:t>كيف يجهّز المرشّح بطاقته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6400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355080" y="1655064"/>
            <a:ext cx="457200" cy="457200"/>
          </a:xfrm>
          <a:prstGeom prst="ellipse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655064"/>
            <a:ext cx="457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ajawal"/>
                <a:cs typeface="Tajaw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548640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افتح بطاقتك التعريفية واضغط أيقونة التعديل (✏️).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6400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355080" y="2295144"/>
            <a:ext cx="457200" cy="457200"/>
          </a:xfrm>
          <a:prstGeom prst="ellipse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295144"/>
            <a:ext cx="457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ajawal"/>
                <a:cs typeface="Tajaw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548640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اضغط «تحميل صورة» لرفع صورتك (JPG / PNG / GIF).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80360"/>
            <a:ext cx="6400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5080" y="2935224"/>
            <a:ext cx="457200" cy="457200"/>
          </a:xfrm>
          <a:prstGeom prst="ellipse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2935224"/>
            <a:ext cx="457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ajawal"/>
                <a:cs typeface="Tajaw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548640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املأ الحقول: الفئة، الجنسية، الوضع الاجتماعي…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20440"/>
            <a:ext cx="6400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55080" y="3575304"/>
            <a:ext cx="457200" cy="457200"/>
          </a:xfrm>
          <a:prstGeom prst="ellipse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3575304"/>
            <a:ext cx="457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ajawal"/>
                <a:cs typeface="Tajaw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20440"/>
            <a:ext cx="548640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حدّد تاريخ الميلاد وتاريخ الانتساب للجمعية.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60520"/>
            <a:ext cx="6400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55080" y="4215384"/>
            <a:ext cx="457200" cy="457200"/>
          </a:xfrm>
          <a:prstGeom prst="ellipse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4215384"/>
            <a:ext cx="457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ajawal"/>
                <a:cs typeface="Tajaw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60520"/>
            <a:ext cx="548640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أضف صفوف «تاريخ العمل في الجمعية» بزر (+).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00600"/>
            <a:ext cx="6400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55080" y="4855464"/>
            <a:ext cx="457200" cy="457200"/>
          </a:xfrm>
          <a:prstGeom prst="ellipse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4855464"/>
            <a:ext cx="457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ajawal"/>
                <a:cs typeface="Tajaw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00600"/>
            <a:ext cx="548640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اكتب «كلمة من المرشّح عن الجمعية».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40680"/>
            <a:ext cx="6400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55080" y="5495544"/>
            <a:ext cx="457200" cy="457200"/>
          </a:xfrm>
          <a:prstGeom prst="ellipse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5495544"/>
            <a:ext cx="457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ajawal"/>
                <a:cs typeface="Tajawal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40680"/>
            <a:ext cx="548640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احفظ بالضغط على علامة (✓) الخضراء.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1600200"/>
            <a:ext cx="4416552" cy="4526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223760" y="1600200"/>
            <a:ext cx="4416552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06640" y="1764792"/>
            <a:ext cx="4050792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4225C"/>
                </a:solidFill>
                <a:latin typeface="Tajawal"/>
                <a:cs typeface="Tajawal"/>
              </a:rPr>
              <a:t>🛠️  أزرار البطاقة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2377440"/>
            <a:ext cx="3959352" cy="3611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✏️  تعديل: لفتح وضع الكتابة.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✓  حفظ (الأخضر): لاعتماد التغييرات.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🔄  تحديث: لإعادة تحميل البيانات.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✕  إغلاق (الأحمر): للخروج دون حفظ.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💡 نصيحة: صورة واضحة ومعلومات كاملة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2A3A"/>
                </a:solidFill>
                <a:latin typeface="Tajawal"/>
                <a:cs typeface="Tajawal"/>
              </a:rPr>
              <a:t>•  تترك انطباعاً أفضل لدى الناخبين.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ajawal"/>
                <a:cs typeface="Tajawal"/>
              </a:rPr>
              <a:t>المرشد: متابعة أفراد المجموعة</a:t>
            </a:r>
          </a:p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E7C855"/>
                </a:solidFill>
                <a:latin typeface="Tajawal"/>
                <a:cs typeface="Tajawal"/>
              </a:rPr>
              <a:t>لوحة المتابعة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22A3A"/>
                </a:solidFill>
                <a:latin typeface="Tajawal"/>
                <a:cs typeface="Tajawal"/>
              </a:rPr>
              <a:t>يفتح المرشد قسم «أفراد المجموعة» ليتابع حالة الناخبين التابعين له لحظة بلحظة.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solidFill>
            <a:srgbClr val="E7C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219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14225C"/>
                </a:solidFill>
                <a:latin typeface="Tajawal"/>
                <a:cs typeface="Tajawal"/>
              </a:rPr>
              <a:t>الناخب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7840" y="2011680"/>
            <a:ext cx="1219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14225C"/>
                </a:solidFill>
                <a:latin typeface="Tajawal"/>
                <a:cs typeface="Tajawal"/>
              </a:rPr>
              <a:t>رقم الهاتف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7040" y="2011680"/>
            <a:ext cx="1219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14225C"/>
                </a:solidFill>
                <a:latin typeface="Tajawal"/>
                <a:cs typeface="Tajawal"/>
              </a:rPr>
              <a:t>الرمز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011680"/>
            <a:ext cx="1219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14225C"/>
                </a:solidFill>
                <a:latin typeface="Tajawal"/>
                <a:cs typeface="Tajawal"/>
              </a:rPr>
              <a:t>تسجيل الدخول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5440" y="2011680"/>
            <a:ext cx="1219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14225C"/>
                </a:solidFill>
                <a:latin typeface="Tajawal"/>
                <a:cs typeface="Tajawal"/>
              </a:rPr>
              <a:t>التصويت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640" y="2011680"/>
            <a:ext cx="1219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14225C"/>
                </a:solidFill>
                <a:latin typeface="Tajawal"/>
                <a:cs typeface="Tajawal"/>
              </a:rPr>
              <a:t>الحالة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68880"/>
            <a:ext cx="73152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46888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22A3A"/>
                </a:solidFill>
                <a:latin typeface="Tajawal"/>
                <a:cs typeface="Tajawal"/>
              </a:rPr>
              <a:t>خالد دقو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7840" y="246888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22A3A"/>
                </a:solidFill>
                <a:latin typeface="Tajawal"/>
                <a:cs typeface="Tajawal"/>
              </a:rPr>
              <a:t>…1273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7040" y="2555164"/>
            <a:ext cx="1219200" cy="23891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222A3A"/>
                </a:solidFill>
                <a:latin typeface="Tajawal"/>
                <a:cs typeface="Tajawal"/>
              </a:rPr>
              <a:t>0000</a:t>
            </a:r>
            <a:endParaRPr sz="1150" b="0" dirty="0">
              <a:solidFill>
                <a:srgbClr val="222A3A"/>
              </a:solidFill>
              <a:latin typeface="Tajawal"/>
              <a:cs typeface="Tajaw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06240" y="246888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22A3A"/>
                </a:solidFill>
                <a:latin typeface="Tajawal"/>
                <a:cs typeface="Tajawal"/>
              </a:rPr>
              <a:t>كلا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5440" y="246888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22A3A"/>
                </a:solidFill>
                <a:latin typeface="Tajawal"/>
                <a:cs typeface="Tajawal"/>
              </a:rPr>
              <a:t>كلا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640" y="246888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C0392B"/>
                </a:solidFill>
                <a:latin typeface="Tajawal"/>
                <a:cs typeface="Tajawal"/>
              </a:rPr>
              <a:t>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880360"/>
            <a:ext cx="73152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88036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22A3A"/>
                </a:solidFill>
                <a:latin typeface="Tajawal"/>
                <a:cs typeface="Tajawal"/>
              </a:rPr>
              <a:t>غسان شوقي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7840" y="288036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22A3A"/>
                </a:solidFill>
                <a:latin typeface="Tajawal"/>
                <a:cs typeface="Tajawal"/>
              </a:rPr>
              <a:t>…4511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7040" y="2867547"/>
            <a:ext cx="1219200" cy="437107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</a:pPr>
            <a:r>
              <a:rPr lang="en-US" sz="1150" dirty="0">
                <a:solidFill>
                  <a:srgbClr val="222A3A"/>
                </a:solidFill>
                <a:latin typeface="Tajawal"/>
                <a:cs typeface="Tajawal"/>
              </a:rPr>
              <a:t>0000</a:t>
            </a:r>
          </a:p>
          <a:p>
            <a:pPr algn="ctr" rtl="1">
              <a:lnSpc>
                <a:spcPct val="112000"/>
              </a:lnSpc>
              <a:spcAft>
                <a:spcPts val="0"/>
              </a:spcAft>
            </a:pPr>
            <a:endParaRPr sz="1150" b="0" dirty="0">
              <a:solidFill>
                <a:srgbClr val="222A3A"/>
              </a:solidFill>
              <a:latin typeface="Tajawal"/>
              <a:cs typeface="Tajaw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06240" y="288036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22A3A"/>
                </a:solidFill>
                <a:latin typeface="Tajawal"/>
                <a:cs typeface="Tajawal"/>
              </a:rPr>
              <a:t>كلا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5440" y="288036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22A3A"/>
                </a:solidFill>
                <a:latin typeface="Tajawal"/>
                <a:cs typeface="Tajawal"/>
              </a:rPr>
              <a:t>كلا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4640" y="288036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C0392B"/>
                </a:solidFill>
                <a:latin typeface="Tajawal"/>
                <a:cs typeface="Tajawal"/>
              </a:rPr>
              <a:t>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291840"/>
            <a:ext cx="73152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29184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22A3A"/>
                </a:solidFill>
                <a:latin typeface="Tajawal"/>
                <a:cs typeface="Tajawal"/>
              </a:rPr>
              <a:t>محمد احمد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7840" y="329184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22A3A"/>
                </a:solidFill>
                <a:latin typeface="Tajawal"/>
                <a:cs typeface="Tajawal"/>
              </a:rPr>
              <a:t>…9946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87040" y="3279027"/>
            <a:ext cx="1219200" cy="437107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</a:pPr>
            <a:r>
              <a:rPr lang="en-US" sz="1150" dirty="0">
                <a:solidFill>
                  <a:srgbClr val="222A3A"/>
                </a:solidFill>
                <a:latin typeface="Tajawal"/>
                <a:cs typeface="Tajawal"/>
              </a:rPr>
              <a:t>0000</a:t>
            </a:r>
          </a:p>
          <a:p>
            <a:pPr algn="ctr" rtl="1">
              <a:lnSpc>
                <a:spcPct val="112000"/>
              </a:lnSpc>
              <a:spcAft>
                <a:spcPts val="0"/>
              </a:spcAft>
            </a:pPr>
            <a:endParaRPr sz="1150" b="0" dirty="0">
              <a:solidFill>
                <a:srgbClr val="222A3A"/>
              </a:solidFill>
              <a:latin typeface="Tajawal"/>
              <a:cs typeface="Tajaw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06240" y="329184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22A3A"/>
                </a:solidFill>
                <a:latin typeface="Tajawal"/>
                <a:cs typeface="Tajawal"/>
              </a:rPr>
              <a:t>كلا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25440" y="329184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22A3A"/>
                </a:solidFill>
                <a:latin typeface="Tajawal"/>
                <a:cs typeface="Tajawal"/>
              </a:rPr>
              <a:t>كلا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4640" y="329184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C0392B"/>
                </a:solidFill>
                <a:latin typeface="Tajawal"/>
                <a:cs typeface="Tajawal"/>
              </a:rPr>
              <a:t>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703320"/>
            <a:ext cx="73152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22A3A"/>
                </a:solidFill>
                <a:latin typeface="Tajawal"/>
                <a:cs typeface="Tajawal"/>
              </a:rPr>
              <a:t>هشام ياسين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67840" y="370332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22A3A"/>
                </a:solidFill>
                <a:latin typeface="Tajawal"/>
                <a:cs typeface="Tajawal"/>
              </a:rPr>
              <a:t>…1840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87040" y="3690507"/>
            <a:ext cx="1219200" cy="437107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</a:pPr>
            <a:r>
              <a:rPr lang="en-US" sz="1150" dirty="0">
                <a:solidFill>
                  <a:srgbClr val="222A3A"/>
                </a:solidFill>
                <a:latin typeface="Tajawal"/>
                <a:cs typeface="Tajawal"/>
              </a:rPr>
              <a:t>0000</a:t>
            </a:r>
          </a:p>
          <a:p>
            <a:pPr algn="ctr" rtl="1">
              <a:lnSpc>
                <a:spcPct val="112000"/>
              </a:lnSpc>
              <a:spcAft>
                <a:spcPts val="0"/>
              </a:spcAft>
            </a:pPr>
            <a:endParaRPr sz="1150" b="0" dirty="0">
              <a:solidFill>
                <a:srgbClr val="222A3A"/>
              </a:solidFill>
              <a:latin typeface="Tajawal"/>
              <a:cs typeface="Tajaw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06240" y="370332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22A3A"/>
                </a:solidFill>
                <a:latin typeface="Tajawal"/>
                <a:cs typeface="Tajawal"/>
              </a:rPr>
              <a:t>كلا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25440" y="370332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22A3A"/>
                </a:solidFill>
                <a:latin typeface="Tajawal"/>
                <a:cs typeface="Tajawal"/>
              </a:rPr>
              <a:t>كلا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4640" y="3703320"/>
            <a:ext cx="1219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C0392B"/>
                </a:solidFill>
                <a:latin typeface="Tajawal"/>
                <a:cs typeface="Tajawal"/>
              </a:rPr>
              <a:t>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2011680"/>
            <a:ext cx="3502152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38160" y="2011680"/>
            <a:ext cx="3502152" cy="73152"/>
          </a:xfrm>
          <a:prstGeom prst="rect">
            <a:avLst/>
          </a:prstGeom>
          <a:solidFill>
            <a:srgbClr val="1B2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21040" y="2176272"/>
            <a:ext cx="3136392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4225C"/>
                </a:solidFill>
                <a:latin typeface="Tajawal"/>
                <a:cs typeface="Tajawal"/>
              </a:rPr>
              <a:t>🧭  ماذا يرى المرشد؟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2788920"/>
            <a:ext cx="3044952" cy="205056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• 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اسم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كل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ناخب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ورقم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هاتفه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ورمزه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• 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هل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سجّل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الدخول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؟ (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نعم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/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كلا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).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• 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هل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صوّت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؟ (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نعم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/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كلا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).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• 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حالة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كل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ناخب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بإشارة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ملوّنة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• 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زر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تحديث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lang="ar-LB" sz="1450" b="0" dirty="0">
                <a:solidFill>
                  <a:srgbClr val="222A3A"/>
                </a:solidFill>
                <a:latin typeface="Tajawal"/>
                <a:cs typeface="Tajawal"/>
              </a:rPr>
              <a:t>الدخول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🔄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لكل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صف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.</a:t>
            </a:r>
          </a:p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• 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اختيار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التاريخ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وتصفّح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 </a:t>
            </a:r>
            <a:r>
              <a:rPr sz="1450" b="0" dirty="0" err="1">
                <a:solidFill>
                  <a:srgbClr val="222A3A"/>
                </a:solidFill>
                <a:latin typeface="Tajawal"/>
                <a:cs typeface="Tajawal"/>
              </a:rPr>
              <a:t>الصفحات</a:t>
            </a:r>
            <a:r>
              <a:rPr sz="1450" b="0" dirty="0">
                <a:solidFill>
                  <a:srgbClr val="222A3A"/>
                </a:solidFill>
                <a:latin typeface="Tajawal"/>
                <a:cs typeface="Tajaw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1463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Tajawal"/>
                <a:cs typeface="Tajawal"/>
              </a:rPr>
              <a:t>خلاصة سريعة</a:t>
            </a:r>
          </a:p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E7C855"/>
                </a:solidFill>
                <a:latin typeface="Tajawal"/>
                <a:cs typeface="Tajawal"/>
              </a:rPr>
              <a:t>ثلاثة أدوار، هدف واحد: انتخابات سهلة وآمنة وشفّافة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3383280" cy="2468880"/>
          </a:xfrm>
          <a:prstGeom prst="roundRect">
            <a:avLst/>
          </a:prstGeom>
          <a:solidFill>
            <a:srgbClr val="1B2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338328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3800" b="0">
                <a:solidFill>
                  <a:srgbClr val="FFFFFF"/>
                </a:solidFill>
                <a:latin typeface="Tajawal"/>
                <a:cs typeface="Tajawal"/>
              </a:rPr>
              <a:t>🗳️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338328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E7C855"/>
                </a:solidFill>
                <a:latin typeface="Tajawal"/>
                <a:cs typeface="Tajawal"/>
              </a:rPr>
              <a:t>الناخب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292608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Tajawal"/>
                <a:cs typeface="Tajawal"/>
              </a:rPr>
              <a:t>يدخل، يختار، يؤكّد — صوته محفوظ وسرّي.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743200"/>
            <a:ext cx="3383280" cy="2468880"/>
          </a:xfrm>
          <a:prstGeom prst="roundRect">
            <a:avLst/>
          </a:prstGeom>
          <a:solidFill>
            <a:srgbClr val="1B2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2971800"/>
            <a:ext cx="338328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3800" b="0">
                <a:solidFill>
                  <a:srgbClr val="FFFFFF"/>
                </a:solidFill>
                <a:latin typeface="Tajawal"/>
                <a:cs typeface="Tajawal"/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794760"/>
            <a:ext cx="338328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E7C855"/>
                </a:solidFill>
                <a:latin typeface="Tajawal"/>
                <a:cs typeface="Tajawal"/>
              </a:rPr>
              <a:t>المرشّح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389120"/>
            <a:ext cx="292608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Tajawal"/>
                <a:cs typeface="Tajawal"/>
              </a:rPr>
              <a:t>يجهّز بطاقته التعريفية ليعرف به الناخبون.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743200"/>
            <a:ext cx="3383280" cy="2468880"/>
          </a:xfrm>
          <a:prstGeom prst="roundRect">
            <a:avLst/>
          </a:prstGeom>
          <a:solidFill>
            <a:srgbClr val="1B2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0" y="2971800"/>
            <a:ext cx="338328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3800" b="0">
                <a:solidFill>
                  <a:srgbClr val="FFFFFF"/>
                </a:solidFill>
                <a:latin typeface="Tajawal"/>
                <a:cs typeface="Tajawal"/>
              </a:rPr>
              <a:t>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794760"/>
            <a:ext cx="338328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E7C855"/>
                </a:solidFill>
                <a:latin typeface="Tajawal"/>
                <a:cs typeface="Tajawal"/>
              </a:rPr>
              <a:t>المرشد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389120"/>
            <a:ext cx="292608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Tajawal"/>
                <a:cs typeface="Tajawal"/>
              </a:rPr>
              <a:t>يتابع مشاركة أفراد مجموعته أولاً بأول.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107507"/>
            <a:ext cx="10360152" cy="31226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600" b="0" dirty="0" err="1">
                <a:solidFill>
                  <a:srgbClr val="E7C855"/>
                </a:solidFill>
                <a:latin typeface="Tajawal"/>
                <a:cs typeface="Tajawal"/>
              </a:rPr>
              <a:t>جمعية</a:t>
            </a:r>
            <a:r>
              <a:rPr sz="1600" b="0" dirty="0">
                <a:solidFill>
                  <a:srgbClr val="E7C855"/>
                </a:solidFill>
                <a:latin typeface="Tajawal"/>
                <a:cs typeface="Tajawal"/>
              </a:rPr>
              <a:t> </a:t>
            </a:r>
            <a:r>
              <a:rPr sz="1600" b="0" dirty="0" err="1">
                <a:solidFill>
                  <a:srgbClr val="E7C855"/>
                </a:solidFill>
                <a:latin typeface="Tajawal"/>
                <a:cs typeface="Tajawal"/>
              </a:rPr>
              <a:t>الإرشاد</a:t>
            </a:r>
            <a:r>
              <a:rPr sz="1600" b="0" dirty="0">
                <a:solidFill>
                  <a:srgbClr val="E7C855"/>
                </a:solidFill>
                <a:latin typeface="Tajawal"/>
                <a:cs typeface="Tajawal"/>
              </a:rPr>
              <a:t> </a:t>
            </a:r>
            <a:r>
              <a:rPr sz="1600" b="0" dirty="0" err="1">
                <a:solidFill>
                  <a:srgbClr val="E7C855"/>
                </a:solidFill>
                <a:latin typeface="Tajawal"/>
                <a:cs typeface="Tajawal"/>
              </a:rPr>
              <a:t>والإصلاح</a:t>
            </a:r>
            <a:r>
              <a:rPr sz="1600" b="0" dirty="0">
                <a:solidFill>
                  <a:srgbClr val="E7C855"/>
                </a:solidFill>
                <a:latin typeface="Tajawal"/>
                <a:cs typeface="Tajawal"/>
              </a:rPr>
              <a:t> 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1018</Words>
  <Application>Microsoft Office PowerPoint</Application>
  <PresentationFormat>Widescreen</PresentationFormat>
  <Paragraphs>211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Tajawal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Moussaab Akoum</cp:lastModifiedBy>
  <cp:revision>5</cp:revision>
  <dcterms:created xsi:type="dcterms:W3CDTF">2013-01-27T09:14:16Z</dcterms:created>
  <dcterms:modified xsi:type="dcterms:W3CDTF">2026-06-15T08:05:39Z</dcterms:modified>
  <cp:category/>
</cp:coreProperties>
</file>